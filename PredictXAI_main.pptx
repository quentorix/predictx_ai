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1" r:id="rId4"/>
    <p:sldId id="258" r:id="rId5"/>
    <p:sldId id="264" r:id="rId6"/>
    <p:sldId id="266" r:id="rId7"/>
    <p:sldId id="262" r:id="rId8"/>
    <p:sldId id="267" r:id="rId9"/>
    <p:sldId id="263" r:id="rId10"/>
    <p:sldId id="265" r:id="rId11"/>
    <p:sldId id="260" r:id="rId12"/>
    <p:sldId id="259" r:id="rId13"/>
  </p:sldIdLst>
  <p:sldSz cx="9144000" cy="5143500" type="screen16x9"/>
  <p:notesSz cx="5143500" cy="9144000"/>
  <p:embeddedFontLst>
    <p:embeddedFont>
      <p:font typeface="Barlow" panose="00000500000000000000" pitchFamily="2" charset="0"/>
      <p:regular r:id="rId15"/>
      <p:bold r:id="rId16"/>
      <p:italic r:id="rId17"/>
      <p:boldItalic r:id="rId18"/>
    </p:embeddedFont>
    <p:embeddedFont>
      <p:font typeface="Spline Sans Bold" panose="020B0604020202020204" charset="0"/>
      <p:regular r:id="rId19"/>
    </p:embeddedFont>
  </p:embeddedFontLst>
  <p:defaultTextStyle>
    <a:defPPr>
      <a:defRPr lang="ru-M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53" autoAdjust="0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144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5854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2.jpeg"/><Relationship Id="rId4" Type="http://schemas.openxmlformats.org/officeDocument/2006/relationships/hyperlink" Target="https://github.com/quentorix/PredictX_AI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3.sv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0B468-F841-39D9-7789-6DC02B3E0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922" y="900265"/>
            <a:ext cx="7728154" cy="33429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2890" y="682034"/>
            <a:ext cx="3200400" cy="342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62890" y="3565070"/>
            <a:ext cx="2168652" cy="1318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Underpriced → Lost value</a:t>
            </a:r>
            <a:endParaRPr lang="en-US" sz="2500" dirty="0"/>
          </a:p>
        </p:txBody>
      </p:sp>
      <p:sp>
        <p:nvSpPr>
          <p:cNvPr id="7" name="Text 3"/>
          <p:cNvSpPr/>
          <p:nvPr/>
        </p:nvSpPr>
        <p:spPr>
          <a:xfrm>
            <a:off x="3776577" y="3568185"/>
            <a:ext cx="1971154" cy="1000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Overpriced → No buyers</a:t>
            </a:r>
            <a:endParaRPr lang="en-US" sz="2500" dirty="0"/>
          </a:p>
        </p:txBody>
      </p:sp>
      <p:sp>
        <p:nvSpPr>
          <p:cNvPr id="10" name="Text 5"/>
          <p:cNvSpPr/>
          <p:nvPr/>
        </p:nvSpPr>
        <p:spPr>
          <a:xfrm>
            <a:off x="6892766" y="3570905"/>
            <a:ext cx="1694433" cy="766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Subjective valuations</a:t>
            </a:r>
            <a:endParaRPr lang="en-US" sz="25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0EDC8B5-9D45-CD83-5440-4E3CC1539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090" y="1245055"/>
            <a:ext cx="1888368" cy="188836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ED3F285-3BB3-6467-DBA2-A9AF34C159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6577" y="1024860"/>
            <a:ext cx="1887108" cy="188710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89C57DE-3695-F0B3-4D8A-68AD6E646C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4002" y="1149805"/>
            <a:ext cx="1887108" cy="18871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7E6FDB-9697-B93F-40A2-BC50D6AFE5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1424" y="50800"/>
            <a:ext cx="816076" cy="3530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1130793"/>
            <a:ext cx="3200400" cy="342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Features</a:t>
            </a:r>
            <a:endParaRPr lang="en-US" sz="2150" dirty="0"/>
          </a:p>
        </p:txBody>
      </p:sp>
      <p:sp>
        <p:nvSpPr>
          <p:cNvPr id="4" name="Text 1"/>
          <p:cNvSpPr/>
          <p:nvPr/>
        </p:nvSpPr>
        <p:spPr>
          <a:xfrm>
            <a:off x="1275531" y="2140781"/>
            <a:ext cx="113578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Price Prediction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275531" y="2661977"/>
            <a:ext cx="1135782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Accurate target price + confidence interval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3339703" y="2140781"/>
            <a:ext cx="113585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Image Analysis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339703" y="2661977"/>
            <a:ext cx="1135856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Finish, space, condition detected automatically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5403949" y="2140781"/>
            <a:ext cx="113578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Fast Evaluation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5403949" y="2661977"/>
            <a:ext cx="1135782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Seconds per listing — instant decisions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7468120" y="2108187"/>
            <a:ext cx="113578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User Friendly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7468120" y="2415071"/>
            <a:ext cx="1135782" cy="1234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Agent &amp; homeowner flows</a:t>
            </a:r>
            <a:endParaRPr lang="en-US" sz="1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E5725CA-B68D-E350-706E-0CAC7E1F8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1424" y="50800"/>
            <a:ext cx="816076" cy="35301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CDB47F5-90D8-0171-8D8C-6547C86378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23" y="1946966"/>
            <a:ext cx="640800" cy="6408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22950DC-3EDA-D7A2-C3BD-94543763D5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2462" y="1946966"/>
            <a:ext cx="640800" cy="6408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1B14B6C-F5E6-CD3D-25B2-BBEA651783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6709" y="1946966"/>
            <a:ext cx="640800" cy="6408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3F98C6B-04EE-07C1-B4E8-59FBD0F8E3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0956" y="1926760"/>
            <a:ext cx="640800" cy="640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0023" y="726504"/>
            <a:ext cx="3200400" cy="342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Market Opportunity</a:t>
            </a:r>
            <a:endParaRPr lang="en-US" sz="2150" dirty="0"/>
          </a:p>
        </p:txBody>
      </p:sp>
      <p:sp>
        <p:nvSpPr>
          <p:cNvPr id="4" name="Shape 1"/>
          <p:cNvSpPr/>
          <p:nvPr/>
        </p:nvSpPr>
        <p:spPr>
          <a:xfrm>
            <a:off x="540023" y="1691299"/>
            <a:ext cx="2240310" cy="1394222"/>
          </a:xfrm>
          <a:prstGeom prst="roundRect">
            <a:avLst>
              <a:gd name="adj" fmla="val 16601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333" y="1864609"/>
            <a:ext cx="1714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Global Market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13333" y="2171493"/>
            <a:ext cx="1893689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$200T+ real estate asset class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934593" y="1691299"/>
            <a:ext cx="2240384" cy="1394222"/>
          </a:xfrm>
          <a:prstGeom prst="roundRect">
            <a:avLst>
              <a:gd name="adj" fmla="val 16601"/>
            </a:avLst>
          </a:prstGeom>
          <a:solidFill>
            <a:srgbClr val="0A081B"/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107903" y="1864609"/>
            <a:ext cx="1714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Transactions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107903" y="2171493"/>
            <a:ext cx="1893763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Millions of apartment sales annually — large addressable market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0023" y="3239781"/>
            <a:ext cx="4634954" cy="900410"/>
          </a:xfrm>
          <a:prstGeom prst="roundRect">
            <a:avLst>
              <a:gd name="adj" fmla="val 25706"/>
            </a:avLst>
          </a:prstGeom>
          <a:solidFill>
            <a:srgbClr val="0A081B"/>
          </a:solidFill>
          <a:ln w="19050">
            <a:solidFill>
              <a:srgbClr val="37A7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333" y="3413091"/>
            <a:ext cx="1714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AI Adoption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13333" y="3719975"/>
            <a:ext cx="428833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Rapid demand for automated valuation &amp; visual analytics</a:t>
            </a:r>
            <a:endParaRPr lang="en-US" sz="1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476F607-AECB-02CB-FE3E-886A74104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1424" y="50800"/>
            <a:ext cx="816076" cy="35301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9FACC22-06D0-8BE1-94F9-AC8118F2AF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8287" y="1212114"/>
            <a:ext cx="3400194" cy="340019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0650" y="449684"/>
            <a:ext cx="5581659" cy="297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838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How it works? The Magic of Multimodal Fusion</a:t>
            </a:r>
            <a:endParaRPr lang="en-US" sz="1838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1377" y="974155"/>
            <a:ext cx="4821018" cy="37196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45318" y="2646421"/>
            <a:ext cx="840813" cy="341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04000"/>
              </a:lnSpc>
            </a:pPr>
            <a:r>
              <a:rPr lang="en-US" sz="10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Multimodal Fusion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972460" y="3867190"/>
            <a:ext cx="1250859" cy="170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Tabular Data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972460" y="4092779"/>
            <a:ext cx="1250859" cy="142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96000"/>
              </a:lnSpc>
            </a:pPr>
            <a:r>
              <a:rPr lang="en-US" sz="938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Features and metrics</a:t>
            </a:r>
            <a:endParaRPr lang="en-US" sz="938" dirty="0"/>
          </a:p>
        </p:txBody>
      </p:sp>
      <p:sp>
        <p:nvSpPr>
          <p:cNvPr id="7" name="Text 4"/>
          <p:cNvSpPr/>
          <p:nvPr/>
        </p:nvSpPr>
        <p:spPr>
          <a:xfrm>
            <a:off x="2361155" y="2636702"/>
            <a:ext cx="1278202" cy="170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Price Prediction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361155" y="2862291"/>
            <a:ext cx="1278202" cy="142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96000"/>
              </a:lnSpc>
            </a:pPr>
            <a:r>
              <a:rPr lang="en-US" sz="938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Final predicted price</a:t>
            </a:r>
            <a:endParaRPr lang="en-US" sz="938" dirty="0"/>
          </a:p>
        </p:txBody>
      </p:sp>
      <p:sp>
        <p:nvSpPr>
          <p:cNvPr id="9" name="Text 6"/>
          <p:cNvSpPr/>
          <p:nvPr/>
        </p:nvSpPr>
        <p:spPr>
          <a:xfrm>
            <a:off x="2887517" y="3796052"/>
            <a:ext cx="1250859" cy="170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Central Model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887517" y="4021642"/>
            <a:ext cx="1250859" cy="284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96000"/>
              </a:lnSpc>
            </a:pPr>
            <a:r>
              <a:rPr lang="en-US" sz="938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Fusion and preprocessing</a:t>
            </a:r>
            <a:endParaRPr lang="en-US" sz="938" dirty="0"/>
          </a:p>
        </p:txBody>
      </p:sp>
      <p:sp>
        <p:nvSpPr>
          <p:cNvPr id="11" name="Text 8"/>
          <p:cNvSpPr/>
          <p:nvPr/>
        </p:nvSpPr>
        <p:spPr>
          <a:xfrm>
            <a:off x="5491986" y="2558728"/>
            <a:ext cx="1278203" cy="170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Text Processing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491986" y="2784317"/>
            <a:ext cx="1278203" cy="284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96000"/>
              </a:lnSpc>
            </a:pPr>
            <a:r>
              <a:rPr lang="en-US" sz="938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Descriptions and reviews</a:t>
            </a:r>
            <a:endParaRPr lang="en-US" sz="938" dirty="0"/>
          </a:p>
        </p:txBody>
      </p:sp>
      <p:sp>
        <p:nvSpPr>
          <p:cNvPr id="13" name="Text 10"/>
          <p:cNvSpPr/>
          <p:nvPr/>
        </p:nvSpPr>
        <p:spPr>
          <a:xfrm>
            <a:off x="3899227" y="1348106"/>
            <a:ext cx="1285038" cy="170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Computer Vision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899227" y="1573696"/>
            <a:ext cx="1285038" cy="142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96000"/>
              </a:lnSpc>
            </a:pPr>
            <a:r>
              <a:rPr lang="en-US" sz="938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Photos and images</a:t>
            </a:r>
            <a:endParaRPr lang="en-US" sz="938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680664E-BC18-9F78-AE88-31D94E60A2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424" y="50800"/>
            <a:ext cx="816076" cy="3530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32B163D-F884-53A4-9807-68A8DB0AA83E}"/>
              </a:ext>
            </a:extLst>
          </p:cNvPr>
          <p:cNvSpPr/>
          <p:nvPr/>
        </p:nvSpPr>
        <p:spPr>
          <a:xfrm>
            <a:off x="550651" y="563836"/>
            <a:ext cx="5192483" cy="349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175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What We Trained On? (Data Science)</a:t>
            </a:r>
            <a:endParaRPr lang="en-US" sz="2175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E478F68-441F-13EE-BC71-BA758C05E46B}"/>
              </a:ext>
            </a:extLst>
          </p:cNvPr>
          <p:cNvSpPr/>
          <p:nvPr/>
        </p:nvSpPr>
        <p:spPr>
          <a:xfrm>
            <a:off x="550651" y="1228131"/>
            <a:ext cx="8499659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238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Real data and strong metrics.</a:t>
            </a:r>
            <a:endParaRPr lang="en-US" sz="1238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286EAB9-C56E-4EC4-1AB6-F7FDF8064C14}"/>
              </a:ext>
            </a:extLst>
          </p:cNvPr>
          <p:cNvSpPr/>
          <p:nvPr/>
        </p:nvSpPr>
        <p:spPr>
          <a:xfrm>
            <a:off x="925996" y="1869207"/>
            <a:ext cx="2838874" cy="519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83000"/>
              </a:lnSpc>
            </a:pPr>
            <a:r>
              <a:rPr lang="en-US" sz="4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23,353</a:t>
            </a:r>
            <a:endParaRPr lang="en-US" sz="4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24D7E6C-E4F8-C759-6B07-E9137B5C1274}"/>
              </a:ext>
            </a:extLst>
          </p:cNvPr>
          <p:cNvSpPr/>
          <p:nvPr/>
        </p:nvSpPr>
        <p:spPr>
          <a:xfrm>
            <a:off x="1372082" y="2585071"/>
            <a:ext cx="1946630" cy="218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Listings</a:t>
            </a: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B40F0D7-97F0-9371-D14B-46B328E8F85B}"/>
              </a:ext>
            </a:extLst>
          </p:cNvPr>
          <p:cNvSpPr/>
          <p:nvPr/>
        </p:nvSpPr>
        <p:spPr>
          <a:xfrm>
            <a:off x="925996" y="2897982"/>
            <a:ext cx="2838874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33000"/>
              </a:lnSpc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Dataset size</a:t>
            </a: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4B4A070-8FFA-B313-D2C0-B084F90B0151}"/>
              </a:ext>
            </a:extLst>
          </p:cNvPr>
          <p:cNvSpPr/>
          <p:nvPr/>
        </p:nvSpPr>
        <p:spPr>
          <a:xfrm>
            <a:off x="5044141" y="1869207"/>
            <a:ext cx="2838956" cy="519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83000"/>
              </a:lnSpc>
            </a:pPr>
            <a:r>
              <a:rPr lang="en-US" sz="4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0.82</a:t>
            </a:r>
            <a:endParaRPr lang="en-US" sz="4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A1DADDB-7B48-CD20-42A2-4AE53292F2B5}"/>
              </a:ext>
            </a:extLst>
          </p:cNvPr>
          <p:cNvSpPr/>
          <p:nvPr/>
        </p:nvSpPr>
        <p:spPr>
          <a:xfrm>
            <a:off x="5490305" y="2585071"/>
            <a:ext cx="1946630" cy="218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R² Score</a:t>
            </a:r>
            <a:endParaRPr lang="en-US" sz="1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AEF3227-5E7B-FD14-2D42-D3EE8F2EAD72}"/>
              </a:ext>
            </a:extLst>
          </p:cNvPr>
          <p:cNvSpPr/>
          <p:nvPr/>
        </p:nvSpPr>
        <p:spPr>
          <a:xfrm>
            <a:off x="5044141" y="2897982"/>
            <a:ext cx="2838956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33000"/>
              </a:lnSpc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Model quality</a:t>
            </a:r>
            <a:endParaRPr lang="en-US" sz="1600" dirty="0"/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C11143E2-52FC-C106-D63A-F1518B80C7F8}"/>
              </a:ext>
            </a:extLst>
          </p:cNvPr>
          <p:cNvSpPr/>
          <p:nvPr/>
        </p:nvSpPr>
        <p:spPr>
          <a:xfrm>
            <a:off x="550650" y="3539059"/>
            <a:ext cx="3383895" cy="196676"/>
          </a:xfrm>
          <a:prstGeom prst="roundRect">
            <a:avLst>
              <a:gd name="adj" fmla="val 120007"/>
            </a:avLst>
          </a:prstGeom>
          <a:solidFill>
            <a:srgbClr val="0A081B"/>
          </a:solidFill>
          <a:ln w="25399">
            <a:solidFill>
              <a:srgbClr val="16FFBB"/>
            </a:solidFill>
            <a:prstDash val="solid"/>
          </a:ln>
        </p:spPr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06C3364A-839D-827F-209C-05B744111EA3}"/>
              </a:ext>
            </a:extLst>
          </p:cNvPr>
          <p:cNvSpPr/>
          <p:nvPr/>
        </p:nvSpPr>
        <p:spPr>
          <a:xfrm>
            <a:off x="550651" y="3539060"/>
            <a:ext cx="2774756" cy="196676"/>
          </a:xfrm>
          <a:prstGeom prst="roundRect">
            <a:avLst>
              <a:gd name="adj" fmla="val 120007"/>
            </a:avLst>
          </a:prstGeom>
          <a:solidFill>
            <a:srgbClr val="16FFBB"/>
          </a:solidFill>
          <a:ln/>
        </p:spPr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455FD03B-BDE9-BA4D-3245-88614A3F0B2B}"/>
              </a:ext>
            </a:extLst>
          </p:cNvPr>
          <p:cNvSpPr/>
          <p:nvPr/>
        </p:nvSpPr>
        <p:spPr>
          <a:xfrm>
            <a:off x="4052488" y="3539059"/>
            <a:ext cx="421025" cy="196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83000"/>
              </a:lnSpc>
            </a:pPr>
            <a:r>
              <a:rPr lang="en-US" sz="1538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82%</a:t>
            </a:r>
            <a:endParaRPr lang="en-US" sz="1538" dirty="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106DAEE9-C2D1-0873-CC15-A53FA9455DEF}"/>
              </a:ext>
            </a:extLst>
          </p:cNvPr>
          <p:cNvSpPr/>
          <p:nvPr/>
        </p:nvSpPr>
        <p:spPr>
          <a:xfrm>
            <a:off x="550650" y="3932338"/>
            <a:ext cx="1748315" cy="218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Explained variance</a:t>
            </a:r>
            <a:endParaRPr lang="en-US" sz="1350" dirty="0"/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AE857A94-3D66-920D-0C80-978FF58F70F5}"/>
              </a:ext>
            </a:extLst>
          </p:cNvPr>
          <p:cNvSpPr/>
          <p:nvPr/>
        </p:nvSpPr>
        <p:spPr>
          <a:xfrm>
            <a:off x="4670184" y="3539059"/>
            <a:ext cx="3410460" cy="196676"/>
          </a:xfrm>
          <a:prstGeom prst="roundRect">
            <a:avLst>
              <a:gd name="adj" fmla="val 120007"/>
            </a:avLst>
          </a:prstGeom>
          <a:solidFill>
            <a:srgbClr val="0A081B"/>
          </a:solidFill>
          <a:ln w="25399">
            <a:solidFill>
              <a:srgbClr val="29DDDA"/>
            </a:solidFill>
            <a:prstDash val="solid"/>
          </a:ln>
        </p:spPr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A784137B-B100-39F8-19E1-7E3168C2DAC8}"/>
              </a:ext>
            </a:extLst>
          </p:cNvPr>
          <p:cNvSpPr/>
          <p:nvPr/>
        </p:nvSpPr>
        <p:spPr>
          <a:xfrm>
            <a:off x="4670185" y="3539059"/>
            <a:ext cx="613826" cy="196676"/>
          </a:xfrm>
          <a:prstGeom prst="roundRect">
            <a:avLst>
              <a:gd name="adj" fmla="val 120007"/>
            </a:avLst>
          </a:prstGeom>
          <a:solidFill>
            <a:srgbClr val="29DDDA"/>
          </a:solidFill>
          <a:ln/>
        </p:spPr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93D937ED-7E23-56BE-9C2F-78FE7C181253}"/>
              </a:ext>
            </a:extLst>
          </p:cNvPr>
          <p:cNvSpPr/>
          <p:nvPr/>
        </p:nvSpPr>
        <p:spPr>
          <a:xfrm>
            <a:off x="8198588" y="3539059"/>
            <a:ext cx="394534" cy="196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83000"/>
              </a:lnSpc>
            </a:pPr>
            <a:r>
              <a:rPr lang="en-US" sz="1538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18%</a:t>
            </a:r>
            <a:endParaRPr lang="en-US" sz="1538" dirty="0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F3F1D1D0-846D-A8A1-D984-BC69BB8C62C1}"/>
              </a:ext>
            </a:extLst>
          </p:cNvPr>
          <p:cNvSpPr/>
          <p:nvPr/>
        </p:nvSpPr>
        <p:spPr>
          <a:xfrm>
            <a:off x="4670184" y="3932337"/>
            <a:ext cx="1748315" cy="218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Residual error</a:t>
            </a:r>
            <a:endParaRPr lang="en-US" sz="13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FBCD11B-0622-8C34-A4BF-D0CA28014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1424" y="50800"/>
            <a:ext cx="816076" cy="353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752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0022" y="1433911"/>
            <a:ext cx="4719271" cy="342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How it works — One click to price</a:t>
            </a:r>
            <a:endParaRPr lang="en-US" sz="24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B715E8C-9739-F02D-30C7-51C8A69E7F62}"/>
              </a:ext>
            </a:extLst>
          </p:cNvPr>
          <p:cNvGrpSpPr/>
          <p:nvPr/>
        </p:nvGrpSpPr>
        <p:grpSpPr>
          <a:xfrm>
            <a:off x="540023" y="2278432"/>
            <a:ext cx="2240310" cy="1147316"/>
            <a:chOff x="540023" y="2091556"/>
            <a:chExt cx="2240310" cy="1147316"/>
          </a:xfrm>
        </p:grpSpPr>
        <p:sp>
          <p:nvSpPr>
            <p:cNvPr id="5" name="Shape 2"/>
            <p:cNvSpPr/>
            <p:nvPr/>
          </p:nvSpPr>
          <p:spPr>
            <a:xfrm>
              <a:off x="540023" y="2091556"/>
              <a:ext cx="2240310" cy="1147316"/>
            </a:xfrm>
            <a:prstGeom prst="roundRect">
              <a:avLst>
                <a:gd name="adj" fmla="val 20174"/>
              </a:avLst>
            </a:prstGeom>
            <a:solidFill>
              <a:srgbClr val="0A081B"/>
            </a:solidFill>
            <a:ln w="19050">
              <a:solidFill>
                <a:srgbClr val="16FFBB"/>
              </a:solidFill>
              <a:prstDash val="solid"/>
            </a:ln>
          </p:spPr>
        </p:sp>
        <p:sp>
          <p:nvSpPr>
            <p:cNvPr id="6" name="Text 3"/>
            <p:cNvSpPr/>
            <p:nvPr/>
          </p:nvSpPr>
          <p:spPr>
            <a:xfrm>
              <a:off x="713333" y="2264866"/>
              <a:ext cx="1714500" cy="2143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350" b="1" dirty="0">
                  <a:solidFill>
                    <a:srgbClr val="E0E4E6"/>
                  </a:solidFill>
                  <a:latin typeface="Spline Sans Bold" pitchFamily="34" charset="0"/>
                  <a:ea typeface="Spline Sans Bold" pitchFamily="34" charset="-122"/>
                  <a:cs typeface="Spline Sans Bold" pitchFamily="34" charset="-120"/>
                </a:rPr>
                <a:t>Input</a:t>
              </a:r>
              <a:endParaRPr lang="en-US" sz="135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713333" y="2571750"/>
              <a:ext cx="1893689" cy="4938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200" dirty="0">
                  <a:solidFill>
                    <a:srgbClr val="E0E4E6"/>
                  </a:solidFill>
                  <a:latin typeface="Barlow" pitchFamily="34" charset="0"/>
                  <a:ea typeface="Barlow" pitchFamily="34" charset="-122"/>
                  <a:cs typeface="Barlow" pitchFamily="34" charset="-120"/>
                </a:rPr>
                <a:t>Photos • sq ft • rooms • location</a:t>
              </a:r>
              <a:endParaRPr lang="en-US" sz="120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7834E71-1632-CF76-8379-5059EA6DB86A}"/>
              </a:ext>
            </a:extLst>
          </p:cNvPr>
          <p:cNvGrpSpPr/>
          <p:nvPr/>
        </p:nvGrpSpPr>
        <p:grpSpPr>
          <a:xfrm>
            <a:off x="2934593" y="2278432"/>
            <a:ext cx="2240384" cy="1147316"/>
            <a:chOff x="2934593" y="2091556"/>
            <a:chExt cx="2240384" cy="1147316"/>
          </a:xfrm>
        </p:grpSpPr>
        <p:sp>
          <p:nvSpPr>
            <p:cNvPr id="8" name="Shape 5"/>
            <p:cNvSpPr/>
            <p:nvPr/>
          </p:nvSpPr>
          <p:spPr>
            <a:xfrm>
              <a:off x="2934593" y="2091556"/>
              <a:ext cx="2240384" cy="1147316"/>
            </a:xfrm>
            <a:prstGeom prst="roundRect">
              <a:avLst>
                <a:gd name="adj" fmla="val 20174"/>
              </a:avLst>
            </a:prstGeom>
            <a:solidFill>
              <a:srgbClr val="0A081B"/>
            </a:solidFill>
            <a:ln w="19050">
              <a:solidFill>
                <a:srgbClr val="29DDDA"/>
              </a:solidFill>
              <a:prstDash val="solid"/>
            </a:ln>
          </p:spPr>
        </p:sp>
        <p:sp>
          <p:nvSpPr>
            <p:cNvPr id="9" name="Text 6"/>
            <p:cNvSpPr/>
            <p:nvPr/>
          </p:nvSpPr>
          <p:spPr>
            <a:xfrm>
              <a:off x="3107903" y="2264866"/>
              <a:ext cx="1714500" cy="2143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350" b="1" dirty="0">
                  <a:solidFill>
                    <a:srgbClr val="E0E4E6"/>
                  </a:solidFill>
                  <a:latin typeface="Spline Sans Bold" pitchFamily="34" charset="0"/>
                  <a:ea typeface="Spline Sans Bold" pitchFamily="34" charset="-122"/>
                  <a:cs typeface="Spline Sans Bold" pitchFamily="34" charset="-120"/>
                </a:rPr>
                <a:t>Output</a:t>
              </a:r>
              <a:endParaRPr lang="en-US" sz="135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3107903" y="2664322"/>
              <a:ext cx="1893763" cy="4938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>
                <a:lnSpc>
                  <a:spcPct val="133000"/>
                </a:lnSpc>
              </a:pPr>
              <a:r>
                <a:rPr lang="en-US" sz="1200" dirty="0">
                  <a:solidFill>
                    <a:srgbClr val="E0E4E6"/>
                  </a:solidFill>
                  <a:latin typeface="Barlow" pitchFamily="34" charset="0"/>
                  <a:ea typeface="Barlow" pitchFamily="34" charset="-122"/>
                  <a:cs typeface="Barlow" pitchFamily="34" charset="-120"/>
                </a:rPr>
                <a:t>Predicted price •</a:t>
              </a:r>
              <a:r>
                <a:rPr lang="ru-RU" sz="1200" dirty="0">
                  <a:solidFill>
                    <a:srgbClr val="E0E4E6"/>
                  </a:solidFill>
                  <a:latin typeface="Barlow" pitchFamily="34" charset="0"/>
                  <a:ea typeface="Barlow" pitchFamily="34" charset="-122"/>
                  <a:cs typeface="Barlow" pitchFamily="34" charset="-120"/>
                </a:rPr>
                <a:t> </a:t>
              </a:r>
              <a:r>
                <a:rPr lang="en-US" sz="1200" dirty="0">
                  <a:solidFill>
                    <a:srgbClr val="E0E4E6"/>
                  </a:solidFill>
                  <a:latin typeface="Barlow" pitchFamily="34" charset="0"/>
                  <a:ea typeface="Barlow" pitchFamily="34" charset="-122"/>
                  <a:cs typeface="Barlow" pitchFamily="34" charset="-120"/>
                </a:rPr>
                <a:t>Confidence</a:t>
              </a:r>
              <a:endParaRPr lang="en-US" sz="1200" dirty="0"/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410DF6F5-BE04-14A1-62FF-A5A70140B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489" y="1285875"/>
            <a:ext cx="3427859" cy="25717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5F65F9-472D-5C93-A06D-C27C37C846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424" y="50800"/>
            <a:ext cx="816076" cy="3530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42455" y="386438"/>
            <a:ext cx="2241351" cy="205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5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CustomTkinter Interface</a:t>
            </a:r>
            <a:endParaRPr lang="en-US" sz="1500" dirty="0"/>
          </a:p>
        </p:txBody>
      </p:sp>
      <p:sp>
        <p:nvSpPr>
          <p:cNvPr id="16" name="Text 9"/>
          <p:cNvSpPr/>
          <p:nvPr/>
        </p:nvSpPr>
        <p:spPr>
          <a:xfrm>
            <a:off x="6027686" y="7479730"/>
            <a:ext cx="2840760" cy="76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95000"/>
              </a:lnSpc>
            </a:pPr>
            <a:r>
              <a:rPr lang="en-US" sz="525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Clean CustomTkinter design</a:t>
            </a:r>
            <a:endParaRPr lang="en-US" sz="525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DA27A28-116E-0BFB-92A5-4495FB553416}"/>
              </a:ext>
            </a:extLst>
          </p:cNvPr>
          <p:cNvGrpSpPr/>
          <p:nvPr/>
        </p:nvGrpSpPr>
        <p:grpSpPr>
          <a:xfrm>
            <a:off x="4306899" y="286746"/>
            <a:ext cx="4289938" cy="2546152"/>
            <a:chOff x="5778866" y="351066"/>
            <a:chExt cx="5719917" cy="3394869"/>
          </a:xfrm>
        </p:grpSpPr>
        <p:pic>
          <p:nvPicPr>
            <p:cNvPr id="4" name="Image 1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78866" y="351066"/>
              <a:ext cx="5719917" cy="3394869"/>
            </a:xfrm>
            <a:prstGeom prst="rect">
              <a:avLst/>
            </a:prstGeom>
          </p:spPr>
        </p:pic>
        <p:sp>
          <p:nvSpPr>
            <p:cNvPr id="17" name="Text 1"/>
            <p:cNvSpPr/>
            <p:nvPr/>
          </p:nvSpPr>
          <p:spPr>
            <a:xfrm>
              <a:off x="9729734" y="2606371"/>
              <a:ext cx="1421839" cy="24347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>
                <a:lnSpc>
                  <a:spcPct val="104000"/>
                </a:lnSpc>
              </a:pPr>
              <a:r>
                <a:rPr lang="en-US" sz="1125" b="1" dirty="0">
                  <a:solidFill>
                    <a:srgbClr val="E0E4E6"/>
                  </a:solidFill>
                  <a:latin typeface="Spline Sans Bold" pitchFamily="34" charset="0"/>
                  <a:ea typeface="Spline Sans Bold" pitchFamily="34" charset="-122"/>
                  <a:cs typeface="Spline Sans Bold" pitchFamily="34" charset="-120"/>
                </a:rPr>
                <a:t>Price</a:t>
              </a:r>
              <a:endParaRPr lang="en-US" sz="1125" dirty="0"/>
            </a:p>
          </p:txBody>
        </p:sp>
        <p:sp>
          <p:nvSpPr>
            <p:cNvPr id="18" name="Text 2"/>
            <p:cNvSpPr/>
            <p:nvPr/>
          </p:nvSpPr>
          <p:spPr>
            <a:xfrm>
              <a:off x="7937828" y="2606371"/>
              <a:ext cx="1421839" cy="24347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>
                <a:lnSpc>
                  <a:spcPct val="104000"/>
                </a:lnSpc>
              </a:pPr>
              <a:r>
                <a:rPr lang="en-US" sz="1125" b="1" dirty="0">
                  <a:solidFill>
                    <a:srgbClr val="E0E4E6"/>
                  </a:solidFill>
                  <a:latin typeface="Spline Sans Bold" pitchFamily="34" charset="0"/>
                  <a:ea typeface="Spline Sans Bold" pitchFamily="34" charset="-122"/>
                  <a:cs typeface="Spline Sans Bold" pitchFamily="34" charset="-120"/>
                </a:rPr>
                <a:t>Details</a:t>
              </a:r>
              <a:endParaRPr lang="en-US" sz="1125" dirty="0"/>
            </a:p>
          </p:txBody>
        </p:sp>
        <p:sp>
          <p:nvSpPr>
            <p:cNvPr id="19" name="Text 3"/>
            <p:cNvSpPr/>
            <p:nvPr/>
          </p:nvSpPr>
          <p:spPr>
            <a:xfrm>
              <a:off x="6116705" y="2606371"/>
              <a:ext cx="1421839" cy="24347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>
                <a:lnSpc>
                  <a:spcPct val="104000"/>
                </a:lnSpc>
              </a:pPr>
              <a:r>
                <a:rPr lang="en-US" sz="1125" b="1" dirty="0">
                  <a:solidFill>
                    <a:srgbClr val="E0E4E6"/>
                  </a:solidFill>
                  <a:latin typeface="Spline Sans Bold" pitchFamily="34" charset="0"/>
                  <a:ea typeface="Spline Sans Bold" pitchFamily="34" charset="-122"/>
                  <a:cs typeface="Spline Sans Bold" pitchFamily="34" charset="-120"/>
                </a:rPr>
                <a:t>Upload</a:t>
              </a:r>
              <a:endParaRPr lang="en-US" sz="1125" dirty="0"/>
            </a:p>
          </p:txBody>
        </p:sp>
      </p:grpSp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5144" y="2834671"/>
            <a:ext cx="1215974" cy="1216001"/>
          </a:xfrm>
          <a:prstGeom prst="rect">
            <a:avLst/>
          </a:prstGeom>
        </p:spPr>
      </p:pic>
      <p:sp>
        <p:nvSpPr>
          <p:cNvPr id="21" name="Text 4"/>
          <p:cNvSpPr/>
          <p:nvPr/>
        </p:nvSpPr>
        <p:spPr>
          <a:xfrm>
            <a:off x="1251347" y="4216779"/>
            <a:ext cx="1386346" cy="675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Async</a:t>
            </a:r>
            <a:endParaRPr lang="en-US" sz="135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11481" y="2809451"/>
            <a:ext cx="1215974" cy="1216001"/>
          </a:xfrm>
          <a:prstGeom prst="rect">
            <a:avLst/>
          </a:prstGeom>
        </p:spPr>
      </p:pic>
      <p:sp>
        <p:nvSpPr>
          <p:cNvPr id="24" name="Text 6"/>
          <p:cNvSpPr/>
          <p:nvPr/>
        </p:nvSpPr>
        <p:spPr>
          <a:xfrm>
            <a:off x="4154499" y="4216780"/>
            <a:ext cx="1386346" cy="675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Real-time</a:t>
            </a:r>
            <a:endParaRPr lang="en-US" sz="135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67818" y="2834671"/>
            <a:ext cx="1215974" cy="1216001"/>
          </a:xfrm>
          <a:prstGeom prst="rect">
            <a:avLst/>
          </a:prstGeom>
        </p:spPr>
      </p:pic>
      <p:sp>
        <p:nvSpPr>
          <p:cNvPr id="27" name="Text 8"/>
          <p:cNvSpPr/>
          <p:nvPr/>
        </p:nvSpPr>
        <p:spPr>
          <a:xfrm>
            <a:off x="7199481" y="4216780"/>
            <a:ext cx="1386346" cy="675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Modern</a:t>
            </a:r>
            <a:endParaRPr lang="en-US" sz="135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AD830B0D-353A-3EBB-839C-95B9C34A91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455" y="894474"/>
            <a:ext cx="3191699" cy="163773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DA8D368-5F5E-ED32-C6FD-227B4E0968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1424" y="50800"/>
            <a:ext cx="816076" cy="3530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2CAC7CA-0E68-18BE-8497-53143DF84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994" y="1254398"/>
            <a:ext cx="3419048" cy="25904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42879" y="1254398"/>
            <a:ext cx="3489945" cy="342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Competitive Advantage</a:t>
            </a:r>
            <a:endParaRPr lang="en-US" sz="2150" dirty="0"/>
          </a:p>
        </p:txBody>
      </p:sp>
      <p:sp>
        <p:nvSpPr>
          <p:cNvPr id="4" name="Text 1"/>
          <p:cNvSpPr/>
          <p:nvPr/>
        </p:nvSpPr>
        <p:spPr>
          <a:xfrm>
            <a:off x="4342879" y="1751484"/>
            <a:ext cx="4265786" cy="1450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Speed: immediate valuations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Cost: orders of magnitude cheaper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Scalability: API + batch processing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Consistency: model-based objectivity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Visuals: image-driven signals other tools lack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342879" y="3340671"/>
            <a:ext cx="4722986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Clear gap vs legacy methods — product wins on unit economics.</a:t>
            </a:r>
            <a:endParaRPr lang="en-US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3222B0-AE19-999E-CA70-307A2996C7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424" y="50800"/>
            <a:ext cx="816076" cy="3530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919787" y="554831"/>
            <a:ext cx="2986088" cy="316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Impact &amp; Next Steps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5599807" y="1096889"/>
            <a:ext cx="3051051" cy="966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Sellers: higher sale price, reduced time on market</a:t>
            </a:r>
            <a:endParaRPr lang="en-US" sz="1100" dirty="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Buyers: fair offers, confidence</a:t>
            </a:r>
            <a:endParaRPr lang="en-US" sz="1100" dirty="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Agencies: scale valuations, lower costs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599807" y="2408114"/>
            <a:ext cx="3051051" cy="793105"/>
          </a:xfrm>
          <a:prstGeom prst="roundRect">
            <a:avLst>
              <a:gd name="adj" fmla="val 26904"/>
            </a:avLst>
          </a:prstGeom>
          <a:solidFill>
            <a:srgbClr val="022349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012" y="2623245"/>
            <a:ext cx="177775" cy="14220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61993" y="2574727"/>
            <a:ext cx="2446660" cy="437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      Repo &amp; demo: </a:t>
            </a:r>
            <a:r>
              <a:rPr lang="en-US" sz="1100" u="sng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github.com/quentorix/PredictX_AI</a:t>
            </a:r>
            <a:r>
              <a:rPr lang="en-US" sz="11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    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97830" y="3813423"/>
            <a:ext cx="8148340" cy="10641"/>
          </a:xfrm>
          <a:prstGeom prst="rect">
            <a:avLst/>
          </a:prstGeom>
          <a:solidFill>
            <a:srgbClr val="E0E4E6">
              <a:alpha val="50000"/>
            </a:srgbClr>
          </a:solidFill>
          <a:ln/>
        </p:spPr>
      </p:sp>
      <p:sp>
        <p:nvSpPr>
          <p:cNvPr id="10" name="Text 6"/>
          <p:cNvSpPr/>
          <p:nvPr/>
        </p:nvSpPr>
        <p:spPr>
          <a:xfrm>
            <a:off x="2762845" y="4056236"/>
            <a:ext cx="3389709" cy="395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PredictX_AI</a:t>
            </a:r>
            <a:endParaRPr lang="en-US" sz="2450" dirty="0"/>
          </a:p>
        </p:txBody>
      </p:sp>
      <p:sp>
        <p:nvSpPr>
          <p:cNvPr id="11" name="Text 7"/>
          <p:cNvSpPr/>
          <p:nvPr/>
        </p:nvSpPr>
        <p:spPr>
          <a:xfrm>
            <a:off x="3069729" y="4503762"/>
            <a:ext cx="2775868" cy="197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Future of Real Estate Valuation</a:t>
            </a:r>
            <a:endParaRPr lang="en-US" sz="12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4432A9-6277-FC62-34D3-7F1286FABFA3}"/>
              </a:ext>
            </a:extLst>
          </p:cNvPr>
          <p:cNvSpPr/>
          <p:nvPr/>
        </p:nvSpPr>
        <p:spPr>
          <a:xfrm>
            <a:off x="314109" y="238571"/>
            <a:ext cx="4931861" cy="31927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MD"/>
          </a:p>
        </p:txBody>
      </p:sp>
      <p:pic>
        <p:nvPicPr>
          <p:cNvPr id="1044" name="Picture 20" descr="stonks">
            <a:extLst>
              <a:ext uri="{FF2B5EF4-FFF2-40B4-BE49-F238E27FC236}">
                <a16:creationId xmlns:a16="http://schemas.microsoft.com/office/drawing/2014/main" id="{7EC313C4-60A0-75E0-6E6D-76DAF76D43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109" y="238570"/>
            <a:ext cx="4929180" cy="3182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72262" y="410492"/>
            <a:ext cx="2471738" cy="251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AI Technology</a:t>
            </a:r>
            <a:endParaRPr lang="en-US" sz="15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87976" y="991517"/>
            <a:ext cx="283294" cy="28329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787976" y="1378767"/>
            <a:ext cx="1259086" cy="157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Machine Learning</a:t>
            </a:r>
            <a:endParaRPr lang="en-US" sz="9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87976" y="1942975"/>
            <a:ext cx="283294" cy="28329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787976" y="2330226"/>
            <a:ext cx="1259086" cy="157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Computer Vision</a:t>
            </a:r>
            <a:endParaRPr lang="en-US" sz="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87976" y="2894433"/>
            <a:ext cx="283294" cy="28329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787976" y="3281684"/>
            <a:ext cx="1259086" cy="157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Geospatial Data</a:t>
            </a:r>
            <a:endParaRPr lang="en-US" sz="9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87976" y="3845891"/>
            <a:ext cx="283294" cy="28329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787976" y="4233142"/>
            <a:ext cx="1259086" cy="157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Data Science</a:t>
            </a:r>
            <a:endParaRPr lang="en-US" sz="9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A48C56-3053-BF54-22E2-3C66971A2F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1424" y="50800"/>
            <a:ext cx="816076" cy="35301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651FBA5-8F97-38EE-76BF-FFFE22D80A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474" y="1202418"/>
            <a:ext cx="2413001" cy="2413001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27B06EB-4094-45B0-CE4C-6473B2371250}"/>
              </a:ext>
            </a:extLst>
          </p:cNvPr>
          <p:cNvCxnSpPr/>
          <p:nvPr/>
        </p:nvCxnSpPr>
        <p:spPr>
          <a:xfrm>
            <a:off x="3028950" y="2436586"/>
            <a:ext cx="2349500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A72A4AD-C57C-7ACB-240E-FCE06C502B10}"/>
              </a:ext>
            </a:extLst>
          </p:cNvPr>
          <p:cNvCxnSpPr>
            <a:cxnSpLocks/>
          </p:cNvCxnSpPr>
          <p:nvPr/>
        </p:nvCxnSpPr>
        <p:spPr>
          <a:xfrm>
            <a:off x="5378450" y="1202418"/>
            <a:ext cx="0" cy="2926767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18F8D84-CCBA-6F23-D9FC-75C8F4BAEC2F}"/>
              </a:ext>
            </a:extLst>
          </p:cNvPr>
          <p:cNvCxnSpPr>
            <a:cxnSpLocks/>
          </p:cNvCxnSpPr>
          <p:nvPr/>
        </p:nvCxnSpPr>
        <p:spPr>
          <a:xfrm>
            <a:off x="5340349" y="4134240"/>
            <a:ext cx="1293815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348AABD-5D03-A388-A793-60CA18783B2E}"/>
              </a:ext>
            </a:extLst>
          </p:cNvPr>
          <p:cNvCxnSpPr>
            <a:cxnSpLocks/>
          </p:cNvCxnSpPr>
          <p:nvPr/>
        </p:nvCxnSpPr>
        <p:spPr>
          <a:xfrm>
            <a:off x="5378450" y="3163829"/>
            <a:ext cx="1293815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E916240-1A68-BEAC-49C4-7BA3F41ADE0D}"/>
              </a:ext>
            </a:extLst>
          </p:cNvPr>
          <p:cNvCxnSpPr>
            <a:cxnSpLocks/>
          </p:cNvCxnSpPr>
          <p:nvPr/>
        </p:nvCxnSpPr>
        <p:spPr>
          <a:xfrm>
            <a:off x="5378450" y="2246848"/>
            <a:ext cx="1293815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E68978B-B7DE-30A8-7052-9EEE79C95587}"/>
              </a:ext>
            </a:extLst>
          </p:cNvPr>
          <p:cNvCxnSpPr>
            <a:cxnSpLocks/>
          </p:cNvCxnSpPr>
          <p:nvPr/>
        </p:nvCxnSpPr>
        <p:spPr>
          <a:xfrm>
            <a:off x="5346700" y="1240518"/>
            <a:ext cx="1293815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609" y="801425"/>
            <a:ext cx="8063954" cy="315061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55612" y="1110659"/>
            <a:ext cx="1582394" cy="197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Upload Listing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755612" y="1656708"/>
            <a:ext cx="1582394" cy="197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Photos &amp; Location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755612" y="2202016"/>
            <a:ext cx="1582394" cy="197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Feature Extraction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55612" y="2756966"/>
            <a:ext cx="1582394" cy="197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Price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233941" y="4214023"/>
            <a:ext cx="6676117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One click input → multimodal AI → actionable price and confidence interval. Fast: seconds per listing.</a:t>
            </a:r>
            <a:endParaRPr lang="en-US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45EDD7-9825-FEC1-599E-63F02C612E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424" y="50800"/>
            <a:ext cx="816076" cy="3530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568</TotalTime>
  <Words>315</Words>
  <Application>Microsoft Office PowerPoint</Application>
  <PresentationFormat>On-screen Show (16:9)</PresentationFormat>
  <Paragraphs>92</Paragraphs>
  <Slides>12</Slides>
  <Notes>11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Spline Sans Bold</vt:lpstr>
      <vt:lpstr>Barlow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Alexandr</cp:lastModifiedBy>
  <cp:revision>17</cp:revision>
  <dcterms:created xsi:type="dcterms:W3CDTF">2026-06-02T14:32:47Z</dcterms:created>
  <dcterms:modified xsi:type="dcterms:W3CDTF">2026-06-05T13:43:30Z</dcterms:modified>
</cp:coreProperties>
</file>